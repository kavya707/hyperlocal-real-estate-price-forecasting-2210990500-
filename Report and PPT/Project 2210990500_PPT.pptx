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916831"/>
            <a:ext cx="8909304" cy="546568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/>
              <a:t>Hyperlocal Real Estate Price Forecasting: </a:t>
            </a:r>
            <a:br>
              <a:rPr lang="en-US" sz="2000" dirty="0"/>
            </a:br>
            <a:r>
              <a:rPr lang="en-US" sz="2000" dirty="0"/>
              <a:t>A Case Study of the Noida Market</a:t>
            </a:r>
            <a:br>
              <a:rPr lang="en-US" sz="2000" dirty="0"/>
            </a:b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Kavya Sharma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2210990500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 Gurpreet Singh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(Associate Professor)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62279" y="0"/>
            <a:ext cx="5466081" cy="97536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Noida Market Variance</a:t>
            </a:r>
            <a:endParaRPr lang="en-US" sz="3000" strike="noStrike" spc="-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EC294F9-E217-3BD4-422C-DEC55747A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639" y="718009"/>
            <a:ext cx="7783768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Noida has a unique mix of Authority-developed plots and private high-rise societies. 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B6FDC765-1A8A-E23D-7A05-925EFD626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639" y="2045473"/>
            <a:ext cx="7264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Market Complexity: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Noida real estate ecosystem is highly fragmented, featuring a complex coexistence of Authority-developed independent plots and densely populated private high-rise housing societies.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Valuation Gap: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Standard property valuation models often fail here because they rely strictly on generic GPS coordinates or total carpet area. They completely ignore "hyperlocal" pricing dynamics and sector-specific premium values.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Methodology &amp; Tech Stack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5771F9E-BBF6-2336-1E97-8C2AACDA6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80" y="1033162"/>
            <a:ext cx="61417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Algorithmic Approach: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a Multiple Linear Regression (MLR) model to ensure high transparency and maintain interpretability for end-users, consciously avoiding "black-box" AI solutions.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Cleaned and normalized historical property dataset using Python and Pandas to remove outliers and handle missing variables.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Selected: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Focused specifically on Sector Location, Carpet Area (sq. ft.), Total Bedrooms (BHK), and Proximity to the nearest Metro Station.</a:t>
            </a:r>
          </a:p>
        </p:txBody>
      </p:sp>
    </p:spTree>
    <p:extLst>
      <p:ext uri="{BB962C8B-B14F-4D97-AF65-F5344CB8AC3E}">
        <p14:creationId xmlns:p14="http://schemas.microsoft.com/office/powerpoint/2010/main" val="199344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+mj-lt"/>
                <a:cs typeface="Times New Roman" panose="02020603050405020304" pitchFamily="18" charset="0"/>
              </a:rPr>
              <a:t>Key Results</a:t>
            </a:r>
            <a:endParaRPr lang="en-US" sz="3000" b="0" strike="noStrike" spc="-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5386FF-30B4-E5A2-1EA4-4FAC26E8C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11" y="983516"/>
            <a:ext cx="677593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finalized regression model successfully achieved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85.4% accuracy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validated against the 20% unseen testing dataset.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Dominance: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statistical weights revealed a critical insight: 'Sector Location' and 'Metro Connectivity' are roughly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2.5x more influential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dictating the final property price compared to the physical square footage of the flat alone. </a:t>
            </a:r>
          </a:p>
        </p:txBody>
      </p:sp>
    </p:spTree>
    <p:extLst>
      <p:ext uri="{BB962C8B-B14F-4D97-AF65-F5344CB8AC3E}">
        <p14:creationId xmlns:p14="http://schemas.microsoft.com/office/powerpoint/2010/main" val="127587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663F3-94F8-60B2-18D8-97A5E563E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1535430"/>
            <a:ext cx="4358133" cy="37871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3A0DE0-E77A-378C-04B9-C74F2CC2D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790700"/>
            <a:ext cx="4358133" cy="340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9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7F0B4C-A7E0-9725-78D9-442921F5F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20" y="1295757"/>
            <a:ext cx="667512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successfully validates that transparent statistical models can achieve high predictive accuracy in complex, segmented markets when fed with engineered hyperlocal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practical, data-driven framework to minimize information asymmetry, helping buyers and sellers make fairer pricing decisions.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current methodology can be significantly enhanced by integrating an automated web-scraping module to pull real-time property listings and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the model can be scaled beyond Noida to encompass the entire National Capital Region (NCR) for broader market forecasting.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27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34722</TotalTime>
  <Words>420</Words>
  <Application>Microsoft Office PowerPoint</Application>
  <PresentationFormat>On-screen Show (4:3)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Kavya Sharma</cp:lastModifiedBy>
  <cp:revision>2303</cp:revision>
  <dcterms:created xsi:type="dcterms:W3CDTF">2010-04-09T07:36:15Z</dcterms:created>
  <dcterms:modified xsi:type="dcterms:W3CDTF">2026-04-28T07:56:06Z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